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dc8940f5834c1e" /><Relationship Type="http://schemas.openxmlformats.org/officeDocument/2006/relationships/extended-properties" Target="/docProps/app.xml" Id="R161b6b0c46d043cb" /><Relationship Type="http://schemas.openxmlformats.org/officeDocument/2006/relationships/officeDocument" Target="/ppt/presentation.xml" Id="Rfafa9bb4e41a49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5c8d2575934482"/>
  </p:sldMasterIdLst>
  <p:notesMasterIdLst>
    <p:notesMasterId xmlns:r="http://schemas.openxmlformats.org/officeDocument/2006/relationships" r:id="R68f92c9e08dc4c72"/>
  </p:notesMasterIdLst>
  <p:sldIdLst>
    <p:sldId xmlns:r="http://schemas.openxmlformats.org/officeDocument/2006/relationships" id="256" r:id="R0ae05b6396f04e59"/>
    <p:sldId xmlns:r="http://schemas.openxmlformats.org/officeDocument/2006/relationships" id="257" r:id="R0413d34433984a70"/>
    <p:sldId xmlns:r="http://schemas.openxmlformats.org/officeDocument/2006/relationships" id="258" r:id="R73176e91fb954661"/>
    <p:sldId xmlns:r="http://schemas.openxmlformats.org/officeDocument/2006/relationships" id="259" r:id="Rfb40b95fe6224170"/>
    <p:sldId xmlns:r="http://schemas.openxmlformats.org/officeDocument/2006/relationships" id="260" r:id="R3f55183b2cd54d84"/>
    <p:sldId xmlns:r="http://schemas.openxmlformats.org/officeDocument/2006/relationships" id="261" r:id="Rb934264c843f4837"/>
    <p:sldId xmlns:r="http://schemas.openxmlformats.org/officeDocument/2006/relationships" id="262" r:id="R719a355453384562"/>
    <p:sldId xmlns:r="http://schemas.openxmlformats.org/officeDocument/2006/relationships" id="263" r:id="R0c7651a226514489"/>
    <p:sldId xmlns:r="http://schemas.openxmlformats.org/officeDocument/2006/relationships" id="264" r:id="Rb30e9b0b24fa4ddb"/>
    <p:sldId xmlns:r="http://schemas.openxmlformats.org/officeDocument/2006/relationships" id="265" r:id="Rcf3eefb2b7234e6d"/>
    <p:sldId xmlns:r="http://schemas.openxmlformats.org/officeDocument/2006/relationships" id="266" r:id="R8a476c096ca8480a"/>
    <p:sldId xmlns:r="http://schemas.openxmlformats.org/officeDocument/2006/relationships" id="267" r:id="R1c125298c3094cfc"/>
    <p:sldId xmlns:r="http://schemas.openxmlformats.org/officeDocument/2006/relationships" id="268" r:id="Ra518f6fbc23b43ba"/>
    <p:sldId xmlns:r="http://schemas.openxmlformats.org/officeDocument/2006/relationships" id="269" r:id="R1ce52a83e7914798"/>
    <p:sldId xmlns:r="http://schemas.openxmlformats.org/officeDocument/2006/relationships" id="270" r:id="R94469d87fa934553"/>
    <p:sldId xmlns:r="http://schemas.openxmlformats.org/officeDocument/2006/relationships" id="271" r:id="R44a8bfe09fc84e43"/>
    <p:sldId xmlns:r="http://schemas.openxmlformats.org/officeDocument/2006/relationships" id="272" r:id="R40b580d0fc34458d"/>
    <p:sldId xmlns:r="http://schemas.openxmlformats.org/officeDocument/2006/relationships" id="273" r:id="R56ef9eb109ba4fc6"/>
    <p:sldId xmlns:r="http://schemas.openxmlformats.org/officeDocument/2006/relationships" id="274" r:id="Rc6c49216ea674ed4"/>
    <p:sldId xmlns:r="http://schemas.openxmlformats.org/officeDocument/2006/relationships" id="275" r:id="R7b0be3f5c0b4402b"/>
    <p:sldId xmlns:r="http://schemas.openxmlformats.org/officeDocument/2006/relationships" id="276" r:id="R282f0d52100d43c5"/>
    <p:sldId xmlns:r="http://schemas.openxmlformats.org/officeDocument/2006/relationships" id="277" r:id="Rb1d148fd653e4d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6bda50b18e4f67" /><Relationship Type="http://schemas.openxmlformats.org/officeDocument/2006/relationships/slideMaster" Target="/ppt/slideMasters/slideMaster1.xml" Id="Re65c8d2575934482" /><Relationship Type="http://schemas.openxmlformats.org/officeDocument/2006/relationships/notesMaster" Target="/ppt/notesMasters/notesMaster1.xml" Id="R68f92c9e08dc4c72" /><Relationship Type="http://schemas.openxmlformats.org/officeDocument/2006/relationships/presProps" Target="/ppt/presProps.xml" Id="R88155718423d440c" /><Relationship Type="http://schemas.openxmlformats.org/officeDocument/2006/relationships/tableStyles" Target="/ppt/tableStyles.xml" Id="Re9fea7a880dc4d17" /><Relationship Type="http://schemas.openxmlformats.org/officeDocument/2006/relationships/slide" Target="/ppt/slides/slide1.xml" Id="R0ae05b6396f04e59" /><Relationship Type="http://schemas.openxmlformats.org/officeDocument/2006/relationships/slide" Target="/ppt/slides/slide2.xml" Id="R0413d34433984a70" /><Relationship Type="http://schemas.openxmlformats.org/officeDocument/2006/relationships/slide" Target="/ppt/slides/slide3.xml" Id="R73176e91fb954661" /><Relationship Type="http://schemas.openxmlformats.org/officeDocument/2006/relationships/slide" Target="/ppt/slides/slide4.xml" Id="Rfb40b95fe6224170" /><Relationship Type="http://schemas.openxmlformats.org/officeDocument/2006/relationships/slide" Target="/ppt/slides/slide5.xml" Id="R3f55183b2cd54d84" /><Relationship Type="http://schemas.openxmlformats.org/officeDocument/2006/relationships/slide" Target="/ppt/slides/slide6.xml" Id="Rb934264c843f4837" /><Relationship Type="http://schemas.openxmlformats.org/officeDocument/2006/relationships/slide" Target="/ppt/slides/slide7.xml" Id="R719a355453384562" /><Relationship Type="http://schemas.openxmlformats.org/officeDocument/2006/relationships/slide" Target="/ppt/slides/slide8.xml" Id="R0c7651a226514489" /><Relationship Type="http://schemas.openxmlformats.org/officeDocument/2006/relationships/slide" Target="/ppt/slides/slide9.xml" Id="Rb30e9b0b24fa4ddb" /><Relationship Type="http://schemas.openxmlformats.org/officeDocument/2006/relationships/slide" Target="/ppt/slides/slide10.xml" Id="Rcf3eefb2b7234e6d" /><Relationship Type="http://schemas.openxmlformats.org/officeDocument/2006/relationships/slide" Target="/ppt/slides/slide11.xml" Id="R8a476c096ca8480a" /><Relationship Type="http://schemas.openxmlformats.org/officeDocument/2006/relationships/slide" Target="/ppt/slides/slide12.xml" Id="R1c125298c3094cfc" /><Relationship Type="http://schemas.openxmlformats.org/officeDocument/2006/relationships/slide" Target="/ppt/slides/slide13.xml" Id="Ra518f6fbc23b43ba" /><Relationship Type="http://schemas.openxmlformats.org/officeDocument/2006/relationships/slide" Target="/ppt/slides/slide14.xml" Id="R1ce52a83e7914798" /><Relationship Type="http://schemas.openxmlformats.org/officeDocument/2006/relationships/slide" Target="/ppt/slides/slide15.xml" Id="R94469d87fa934553" /><Relationship Type="http://schemas.openxmlformats.org/officeDocument/2006/relationships/slide" Target="/ppt/slides/slide16.xml" Id="R44a8bfe09fc84e43" /><Relationship Type="http://schemas.openxmlformats.org/officeDocument/2006/relationships/slide" Target="/ppt/slides/slide17.xml" Id="R40b580d0fc34458d" /><Relationship Type="http://schemas.openxmlformats.org/officeDocument/2006/relationships/slide" Target="/ppt/slides/slide18.xml" Id="R56ef9eb109ba4fc6" /><Relationship Type="http://schemas.openxmlformats.org/officeDocument/2006/relationships/slide" Target="/ppt/slides/slide19.xml" Id="Rc6c49216ea674ed4" /><Relationship Type="http://schemas.openxmlformats.org/officeDocument/2006/relationships/slide" Target="/ppt/slides/slide20.xml" Id="R7b0be3f5c0b4402b" /><Relationship Type="http://schemas.openxmlformats.org/officeDocument/2006/relationships/slide" Target="/ppt/slides/slide21.xml" Id="R282f0d52100d43c5" /><Relationship Type="http://schemas.openxmlformats.org/officeDocument/2006/relationships/slide" Target="/ppt/slides/slide22.xml" Id="Rb1d148fd653e4d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9d9967a35741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a273d170f24b19" /><Relationship Type="http://schemas.openxmlformats.org/officeDocument/2006/relationships/notesMaster" Target="/ppt/notesMasters/notesMaster1.xml" Id="R326d77f246324d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c40e7357eb4bf4" /><Relationship Type="http://schemas.openxmlformats.org/officeDocument/2006/relationships/notesMaster" Target="/ppt/notesMasters/notesMaster1.xml" Id="R0abdb0f11bb04e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8f6d32628b4a3d" /><Relationship Type="http://schemas.openxmlformats.org/officeDocument/2006/relationships/notesMaster" Target="/ppt/notesMasters/notesMaster1.xml" Id="R66e491a2ef444e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645532c26a4bf0" /><Relationship Type="http://schemas.openxmlformats.org/officeDocument/2006/relationships/notesMaster" Target="/ppt/notesMasters/notesMaster1.xml" Id="Ree1b55b7c1604f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d5df1bd95d40f3" /><Relationship Type="http://schemas.openxmlformats.org/officeDocument/2006/relationships/notesMaster" Target="/ppt/notesMasters/notesMaster1.xml" Id="R2b3fb3f89c644e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8e4fbe17874b35" /><Relationship Type="http://schemas.openxmlformats.org/officeDocument/2006/relationships/notesMaster" Target="/ppt/notesMasters/notesMaster1.xml" Id="R5d21320bb7d046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ca8d38d22c4e90" /><Relationship Type="http://schemas.openxmlformats.org/officeDocument/2006/relationships/notesMaster" Target="/ppt/notesMasters/notesMaster1.xml" Id="R20314c1e1fa248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edf594bb4d4c6b" /><Relationship Type="http://schemas.openxmlformats.org/officeDocument/2006/relationships/notesMaster" Target="/ppt/notesMasters/notesMaster1.xml" Id="R2486f6e7e61847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dfc66d80874a19" /><Relationship Type="http://schemas.openxmlformats.org/officeDocument/2006/relationships/notesMaster" Target="/ppt/notesMasters/notesMaster1.xml" Id="Raf85215d54084b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1b66f87e044f5a" /><Relationship Type="http://schemas.openxmlformats.org/officeDocument/2006/relationships/notesMaster" Target="/ppt/notesMasters/notesMaster1.xml" Id="Re9ce6463062c41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822535292f4832" /><Relationship Type="http://schemas.openxmlformats.org/officeDocument/2006/relationships/notesMaster" Target="/ppt/notesMasters/notesMaster1.xml" Id="Re95a069bcdf845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543a7b19e641dc" /><Relationship Type="http://schemas.openxmlformats.org/officeDocument/2006/relationships/notesMaster" Target="/ppt/notesMasters/notesMaster1.xml" Id="R20a44ff81f6747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73e2e6ceea4fa4" /><Relationship Type="http://schemas.openxmlformats.org/officeDocument/2006/relationships/notesMaster" Target="/ppt/notesMasters/notesMaster1.xml" Id="R72b5c4286d724a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1eb18d9ade4d1d" /><Relationship Type="http://schemas.openxmlformats.org/officeDocument/2006/relationships/notesMaster" Target="/ppt/notesMasters/notesMaster1.xml" Id="R5202c51bd2d747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01ba6094db483e" /><Relationship Type="http://schemas.openxmlformats.org/officeDocument/2006/relationships/notesMaster" Target="/ppt/notesMasters/notesMaster1.xml" Id="R3cf875eaa15149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f23974ccf1f4752" /><Relationship Type="http://schemas.openxmlformats.org/officeDocument/2006/relationships/notesMaster" Target="/ppt/notesMasters/notesMaster1.xml" Id="Rd3386f2eee504f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a1f85b290244bb" /><Relationship Type="http://schemas.openxmlformats.org/officeDocument/2006/relationships/notesMaster" Target="/ppt/notesMasters/notesMaster1.xml" Id="R9ef1a1fdf58140b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9e8dfbce344a9c" /><Relationship Type="http://schemas.openxmlformats.org/officeDocument/2006/relationships/notesMaster" Target="/ppt/notesMasters/notesMaster1.xml" Id="R2d242fe514fb4c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095b538ab2b426b" /><Relationship Type="http://schemas.openxmlformats.org/officeDocument/2006/relationships/notesMaster" Target="/ppt/notesMasters/notesMaster1.xml" Id="Re19ebf2d63c441f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1a977f9831f445a" /><Relationship Type="http://schemas.openxmlformats.org/officeDocument/2006/relationships/notesMaster" Target="/ppt/notesMasters/notesMaster1.xml" Id="R91211377959c4d5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0143f62a374e14" /><Relationship Type="http://schemas.openxmlformats.org/officeDocument/2006/relationships/notesMaster" Target="/ppt/notesMasters/notesMaster1.xml" Id="R12486b966db54ad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b44f36e36754ad2" /><Relationship Type="http://schemas.openxmlformats.org/officeDocument/2006/relationships/notesMaster" Target="/ppt/notesMasters/notesMaster1.xml" Id="Re0f9a797833749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f60751e9a4d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fa423d44244840" /><Relationship Type="http://schemas.openxmlformats.org/officeDocument/2006/relationships/slideLayout" Target="/ppt/slideLayouts/slideLayout1.xml" Id="Rbdb836351e6b4e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b836351e6b4e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66f4151f64d6b" /><Relationship Type="http://schemas.openxmlformats.org/officeDocument/2006/relationships/image" Target="/ppt/media/image.png" Id="R3ed8c57d530148cc" /><Relationship Type="http://schemas.openxmlformats.org/officeDocument/2006/relationships/notesSlide" Target="/ppt/notesSlides/notesSlide1.xml" Id="Reff231d5298e44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221aecc7b4a6c" /><Relationship Type="http://schemas.openxmlformats.org/officeDocument/2006/relationships/notesSlide" Target="/ppt/notesSlides/notesSlide2.xml" Id="R60d1c523d3a945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548a1cf0048b1" /><Relationship Type="http://schemas.openxmlformats.org/officeDocument/2006/relationships/notesSlide" Target="/ppt/notesSlides/notesSlide3.xml" Id="R948f763002fd48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68a2e2be44484" /><Relationship Type="http://schemas.openxmlformats.org/officeDocument/2006/relationships/image" Target="/ppt/media/image2.png" Id="R6abe1fe4a3d34102" /><Relationship Type="http://schemas.openxmlformats.org/officeDocument/2006/relationships/notesSlide" Target="/ppt/notesSlides/notesSlide4.xml" Id="Rf031c1ca002249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95bc903894565" /><Relationship Type="http://schemas.openxmlformats.org/officeDocument/2006/relationships/notesSlide" Target="/ppt/notesSlides/notesSlide5.xml" Id="R4dee9228fcf340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621fa88824e96" /><Relationship Type="http://schemas.openxmlformats.org/officeDocument/2006/relationships/notesSlide" Target="/ppt/notesSlides/notesSlide6.xml" Id="Ra3997da6fe9049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449ff957c44fd" /><Relationship Type="http://schemas.openxmlformats.org/officeDocument/2006/relationships/notesSlide" Target="/ppt/notesSlides/notesSlide7.xml" Id="R12cead1d3cf64f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50f21227e48d6" /><Relationship Type="http://schemas.openxmlformats.org/officeDocument/2006/relationships/notesSlide" Target="/ppt/notesSlides/notesSlide8.xml" Id="R57f7898db1ef48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15935e9ca4615" /><Relationship Type="http://schemas.openxmlformats.org/officeDocument/2006/relationships/notesSlide" Target="/ppt/notesSlides/notesSlide9.xml" Id="R56ef0b36696c41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17e6e37ca4157" /><Relationship Type="http://schemas.openxmlformats.org/officeDocument/2006/relationships/notesSlide" Target="/ppt/notesSlides/notesSlide10.xml" Id="R1be0c11f114242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caea2f5a94024" /><Relationship Type="http://schemas.openxmlformats.org/officeDocument/2006/relationships/notesSlide" Target="/ppt/notesSlides/notesSlide11.xml" Id="R137e265abbd647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2fe7903834915" /><Relationship Type="http://schemas.openxmlformats.org/officeDocument/2006/relationships/notesSlide" Target="/ppt/notesSlides/notesSlide12.xml" Id="R9fd7f9b45ad747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a9172cb7c499e" /><Relationship Type="http://schemas.openxmlformats.org/officeDocument/2006/relationships/notesSlide" Target="/ppt/notesSlides/notesSlide13.xml" Id="Rffc3b0e3ca204f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60746f0404ba6" /><Relationship Type="http://schemas.openxmlformats.org/officeDocument/2006/relationships/notesSlide" Target="/ppt/notesSlides/notesSlide14.xml" Id="R542e039c34a247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c0c4448a54b5a" /><Relationship Type="http://schemas.openxmlformats.org/officeDocument/2006/relationships/notesSlide" Target="/ppt/notesSlides/notesSlide15.xml" Id="R4b366a1d4beb48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312ad11bc400c" /><Relationship Type="http://schemas.openxmlformats.org/officeDocument/2006/relationships/notesSlide" Target="/ppt/notesSlides/notesSlide16.xml" Id="Rf6e951db48e649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b54ea0a6244b3" /><Relationship Type="http://schemas.openxmlformats.org/officeDocument/2006/relationships/notesSlide" Target="/ppt/notesSlides/notesSlide17.xml" Id="Rb62a27f21a1b42c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f1e74287a4a97" /><Relationship Type="http://schemas.openxmlformats.org/officeDocument/2006/relationships/notesSlide" Target="/ppt/notesSlides/notesSlide18.xml" Id="R150f531bab0c45d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08e92878041d1" /><Relationship Type="http://schemas.openxmlformats.org/officeDocument/2006/relationships/notesSlide" Target="/ppt/notesSlides/notesSlide19.xml" Id="Rceb534a4b8e6465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88d5ccf394920" /><Relationship Type="http://schemas.openxmlformats.org/officeDocument/2006/relationships/notesSlide" Target="/ppt/notesSlides/notesSlide20.xml" Id="R0c4ba6909f12452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05be93b794988" /><Relationship Type="http://schemas.openxmlformats.org/officeDocument/2006/relationships/notesSlide" Target="/ppt/notesSlides/notesSlide21.xml" Id="R6c17cdd755ca449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61a015e754902" /><Relationship Type="http://schemas.openxmlformats.org/officeDocument/2006/relationships/image" Target="/ppt/media/image3.png" Id="R0622e4e5214248b0" /><Relationship Type="http://schemas.openxmlformats.org/officeDocument/2006/relationships/notesSlide" Target="/ppt/notesSlides/notesSlide22.xml" Id="Rc81ebaae287d47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8c57d530148cc"/>
          <a:stretch xmlns:a="http://schemas.openxmlformats.org/drawingml/2006/main"/>
        </p:blipFill>
        <p:spPr>
          <a:xfrm xmlns:a="http://schemas.openxmlformats.org/drawingml/2006/main">
            <a:off x="8972550" y="533400"/>
            <a:ext cx="2152650" cy="857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6AE24-F458-4C66-9B0A-EE71FDE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CE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6CE39"/>
                </a:solidFill>
                <a:latin typeface="Aptos"/>
                <a:ea typeface="Aptos"/>
                <a:cs typeface="Aptos"/>
              </a:rPr>
              <a:t>PORTAIL UNIFIÉ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DF438-EAB4-42E5-A60B-71ED3847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SAGE INDEX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6B8D6-581C-4DC8-AD36-100E8480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Une vue consolidée de la traçabilité, des ressources humaines et des plannings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6654F-FC1F-4A42-9B82-014F24F6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5B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C5BF"/>
                </a:solidFill>
                <a:latin typeface="Aptos"/>
                <a:ea typeface="Aptos"/>
                <a:cs typeface="Aptos"/>
              </a:rPr>
              <a:t>Projet de fin d’études • Présentation de la 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E4313-9088-4F45-91C0-65E384A3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52625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C3C9D-471D-4CB8-9428-3F27F863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38375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6F477-E3A7-4714-9883-1E2F3D44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applications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réunies dans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 seul portail</a:t>
            </a:r>
          </a:p>
        </p:txBody>
      </p:sp>
    </p:spTree>
    <p:extLst>
      <p:ext uri="{BB962C8B-B14F-4D97-AF65-F5344CB8AC3E}">
        <p14:creationId xmlns:p14="http://schemas.microsoft.com/office/powerpoint/2010/main" val="342020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72342A-ED51-43DC-AB2D-A6252FB3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SAGE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1B3EA-6B56-48D2-B2D9-63A78A28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Table des matières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EF5D6-1F96-44BC-9E13-8508253F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E6E50-F391-4659-9595-8C59E088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308EF-CACF-4153-97BC-FCCEE86B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E3EF3-BD1D-437A-9324-54736D7F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762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Contexte général du projet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D5254-1183-472C-8670-95C59D5B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50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46E2F-A146-4DAC-9E6D-8AA6E07E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8127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FB8EB-4DB2-4163-AA2C-B55F4083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812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Organisme d’accueil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250FE-DD10-48FA-808F-24932FCC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242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EF614-37F5-449E-9EFC-5F923008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042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E7AED-BDC3-4138-9D14-3A8DFA4E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Problématique et enjeux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C416E-0706-41D2-9E9E-BAD4C44A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54525-F26C-4A45-ADBE-FE5B7D2F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957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057E3-F666-4993-B32E-A27451DD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195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Étude de l’existant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37431-BCC3-4878-92D7-0A85320F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56398-2F0B-44D3-B696-9819BBC5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3872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E818B-81B0-44CA-A2B6-8D596C2B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0387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Solution proposée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BBCA6-5EEF-4B37-B787-44410251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816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1732C-E0A5-46AB-BE0A-2A628716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98B64F-7288-44FA-9838-B8C0E617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62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Besoins fonctionnels et non fonctionnels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3D0D5-4D14-42F9-B337-FA375885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0EA2B0-5FC6-431D-B76A-BB62E1A0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8127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CD1AC-EBBF-4564-B1BE-D842CD16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812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Valeur ajoutée de la solution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84938C-3820-42A5-B263-B54D4E9C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9156F8-69EC-4296-AA78-C7E2D08F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042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EB0D82-651B-4396-89A8-0168F924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04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Méthodologie adoptée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51B46B-4D0C-433D-B313-8D24EF0B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A43A7F-D6F3-4DB8-857C-DB2BB8BF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4912DF-6783-42C4-A0F5-961B3A52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195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Technologies utilisées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B433A7-2CBF-4A7C-94A0-BCAF2793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DB50C0-F3F7-4216-892A-DE3731D4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3872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9F337F-B4CF-4896-836A-A9A5FAD6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387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Démonstration vidéo de la solution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89F7D7-A701-402F-B4E8-C3C9ADB9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816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15804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BB5A0-5952-489A-B09A-730C5AE1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SAGE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13F43-8922-49F7-B2F8-F114D57E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Le projet répond à une fragmentation opérationnelle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3A7A8-03C5-4C3F-9AC8-674CBA0F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C42AA-ECAA-47A2-8236-A7122C3A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9D876-5F8A-4C3B-85AC-C8FE43B5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179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Trois applications métier produisent des données complémentaires, mais leur consultation séparée ralentit la prise de décision.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975E0-D2DF-4C67-BA8E-4472FB88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338137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32F96-4B68-4397-879E-E4B63460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8871E-9405-420D-ACBF-FE490B36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2962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Traçabilité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3F671-29E8-4A3B-8348-F308DECD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29622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Lots, réceptions, consommations, contrôles, non-conformités et expéditions.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D3782-13B4-47EF-B189-8BEF75BC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14625"/>
            <a:ext cx="338137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86087-6E16-4401-BAB2-2F3E9A38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14625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F2436-ED87-4724-A8A6-D430B087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86075"/>
            <a:ext cx="2962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Ressources humaines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D9F5A-53EA-4D95-9872-623FF9DF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05175"/>
            <a:ext cx="29622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Présence, pointage, congés, demandes, équipes et capacité disponible.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ED6C1-2C02-49AE-AD8F-D9C2E7C8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338137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CEE9D-3ECF-4FD9-A6BB-A3E338A6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A81E95-26A1-4FF7-84D9-E08909AB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86075"/>
            <a:ext cx="2962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Plannings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072D2-3A2C-4AA6-A462-EADB21FB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05175"/>
            <a:ext cx="29622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Projets ECR, actions, jalons, échéances, retards et avancement.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A4FA7-4F0F-4FB5-ACEF-44ECD8F7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Objectif : transformer trois lectures isolées en une vision cohérente et personnalisée.</a:t>
            </a:r>
          </a:p>
        </p:txBody>
      </p:sp>
    </p:spTree>
    <p:extLst>
      <p:ext uri="{BB962C8B-B14F-4D97-AF65-F5344CB8AC3E}">
        <p14:creationId xmlns:p14="http://schemas.microsoft.com/office/powerpoint/2010/main" val="16059373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77580-4FFC-4DCF-AC37-2AC53CE9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SAGE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6972D-AB4B-47CB-8AE9-EFD8A737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92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SAGE Automotive Interiors : un environnement industriel exigeant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EDCA5-80DD-4BF4-ADE4-D129FDE9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18F88-FA50-42D2-A630-14E8F029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e1fe4a3d34102"/>
          <a:stretch xmlns:a="http://schemas.openxmlformats.org/drawingml/2006/main"/>
        </p:blipFill>
        <p:spPr>
          <a:xfrm xmlns:a="http://schemas.openxmlformats.org/drawingml/2006/main">
            <a:off x="9568392" y="1619250"/>
            <a:ext cx="1913467" cy="76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EA86A-6539-4BC2-B723-803A9DCD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Cadre du projet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B3811-B6B2-4CCB-A78D-98ABAC8C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314AB-4138-4381-B54C-A351F746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92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31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Activités industrielles où la continuité, la qualité et la traçabilité sont critiques.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98659-DE4A-43B8-914C-4A70B7D3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EF78D-9509-47CE-88F3-856B786C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92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267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Multiplicité des processus et des profils : production, qualité, RH, méthodes et management.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83D61-ED2C-404D-BCD8-6EDD0B9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D13AA-84AF-4350-AF2F-35BF0C79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92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3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Besoin d’un accès fiable aux indicateurs opérationnels pour agir rapidement.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45644-9B86-44FE-B676-7F68F140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71750"/>
            <a:ext cx="4762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260F2-661F-4CB9-8F73-53E732B2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Mission confiée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C839C-33ED-4F12-8623-10E97880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409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Concevoir un portail sécurisé qui fédère les applications existantes, consolide leurs données et adapte l’expérience au collaborateur connecté.</a:t>
            </a:r>
          </a:p>
        </p:txBody>
      </p:sp>
    </p:spTree>
    <p:extLst>
      <p:ext uri="{BB962C8B-B14F-4D97-AF65-F5344CB8AC3E}">
        <p14:creationId xmlns:p14="http://schemas.microsoft.com/office/powerpoint/2010/main" val="12437273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BA979B-3441-4050-8C98-B633F548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SAGE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3872B-47ED-456B-A522-1FB0D12B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Le défi : unifier sans remplacer les applications métier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68957-1BFA-4206-BC8B-2D6F32C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E3E0F-4B32-4817-8536-32F145D4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2AE94-E346-468F-81B0-0358BA54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28637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CAAD0-F98A-425E-8B87-9DFB254A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6D138-52BD-47FB-A776-6AF653EB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01 • Accès dispersé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FF95C-D19B-40A0-80E1-79DEF0BA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8672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Plusieurs interfaces, identifiants et chemins de navigation augmentent la friction.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AA53A-73D2-48EE-9339-D9B5962B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09750"/>
            <a:ext cx="528637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8A259-768E-44A4-BD9F-F4D933ED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09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9AD0D-971E-4D2E-9EF3-A9C4086B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981200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02 • Vision en silos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3E24F-FC53-416B-966F-94BA1728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400300"/>
            <a:ext cx="48672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Les signaux Traçabilité, RH et Planning ne sont pas rapprochés au même endroit.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55BC8-1EAF-4C09-9EB0-06E595DE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528637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FE0F3-9042-4E49-90D4-5226E74B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D4229-E0BD-4110-8C3D-4DCA4885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03 • Décision tardive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189A1-316D-4711-9A9B-55003F5D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48175"/>
            <a:ext cx="48672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Les priorités et retards sont identifiés après consultation de plusieurs sources.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398AD-B672-4842-92BD-EC300BAA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57625"/>
            <a:ext cx="528637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29328-4BD8-4FC9-8C89-DD6028F8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576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8EDD2C-9A96-4EB8-9E4E-E791C69F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29075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04 • Sécurité et adoption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A85C4-D03B-4C34-B37D-6EC91DCD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448175"/>
            <a:ext cx="48672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L’unification doit préserver les droits, la confidentialité et la simplicité d’usage.</a:t>
            </a:r>
          </a:p>
        </p:txBody>
      </p:sp>
    </p:spTree>
    <p:extLst>
      <p:ext uri="{BB962C8B-B14F-4D97-AF65-F5344CB8AC3E}">
        <p14:creationId xmlns:p14="http://schemas.microsoft.com/office/powerpoint/2010/main" val="1913935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4598F-DBAB-4B74-8E2A-F98CE044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SAGE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6DF24-3832-4138-AD09-35A6CE17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L’existant est riche, mais l’expérience reste fragmentée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B52CA-491A-4A75-8535-761A4323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563C5-F8A5-47D8-9A72-47A4FC4D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C296C-18D2-4CA8-9F9A-DB289AE5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41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8413E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B6303-8228-4498-9F0A-2D18073D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Après intégration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66D2E-3DAD-4E11-87DD-8A2BA5F8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4286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4AD30-DD05-4B19-B5C8-3303FA6C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Traçabilité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80F09-6AF9-4D9B-BAFD-8DD4CE3A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4286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AADB2-BD1E-4B75-A5A1-7BE4C9F6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Ressources humaines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36BC7-E61D-438B-A17E-4ECECABC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76725"/>
            <a:ext cx="4286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36675-7A82-46C8-8BAF-48D79E8C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Gestion des plannings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9BD6E-B1C1-45C1-930B-73E20293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813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901FB-5F73-481A-8424-E823E4B0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476250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C0660-21EF-47AD-8596-953FFD7C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19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SAGE INDEX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0E8F0-6A2A-4763-8E4F-EA051F1A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3810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Authentification unique</a:t>
            </a:r>
          </a:p>
          <a:p xmlns:a="http://schemas.openxmlformats.org/drawingml/2006/main">
            <a:pPr algn="ctr">
              <a:defRPr sz="18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Dashboard consolidé</a:t>
            </a:r>
          </a:p>
          <a:p xmlns:a="http://schemas.openxmlformats.org/drawingml/2006/main">
            <a:pPr algn="ctr">
              <a:defRPr sz="18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Accès direct aux trois modules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956FA-6CE5-4952-82FF-19F974A0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68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Principe d’architecture : conserver les systèmes sources et ajouter une couche de portail, d’agrégation et de sécurité.</a:t>
            </a:r>
          </a:p>
        </p:txBody>
      </p:sp>
    </p:spTree>
    <p:extLst>
      <p:ext uri="{BB962C8B-B14F-4D97-AF65-F5344CB8AC3E}">
        <p14:creationId xmlns:p14="http://schemas.microsoft.com/office/powerpoint/2010/main" val="2589028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F35A5-10B2-4C83-A10E-B68681B6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SAGE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92E73-C036-4CEF-8267-66993CD2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La solution crée un point d’entrée unique et personnalisé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763C1-8833-4379-8223-3EAC374C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BB9AC-8ADF-405E-BDEB-3B44B0B1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66714-000C-4E26-AD4C-6147855E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190750" cy="23336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BCD27-577D-4BEE-A6A1-94ABADD1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1A279-852E-4DC1-ACC8-F0D5D5EA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0375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Connexion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E507D-4174-44A0-A36A-C2E10726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71875"/>
            <a:ext cx="1762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Matricule + mot de passe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Jeton JWT sécurisé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73B77-1FAA-42EF-8263-75685CAA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908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6CE3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6CE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F0234-4EF8-461F-A58C-840795E0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33625"/>
            <a:ext cx="2190750" cy="23336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257DA-F35A-4F80-9140-E431E32D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B2C57-58E4-4FAE-B710-80B31B1C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00375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Profil utilisateur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A79B1-CB29-4731-97AC-08E6A650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571875"/>
            <a:ext cx="1762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40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Applications autorisées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Rôle, service, identité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859C1-8632-4229-82EF-D97AD085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1908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6CE3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6CE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94887-BC16-4EF4-B778-84E98FBB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33625"/>
            <a:ext cx="2190750" cy="23336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8CD4D-3404-47B8-90FF-FB4CB0A3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241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8FDB3-9A49-4A48-A342-23F7375A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00375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Agrégation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F447F-E1E5-4B55-BE8E-B6E08094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571875"/>
            <a:ext cx="1762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26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Lecture des bases métier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Normalisation des indicateurs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C5A9B9-F32B-4670-B75C-686B3DD0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908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6CE3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6CE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CD25D-517E-41B5-8043-861B4969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33625"/>
            <a:ext cx="2190750" cy="23336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9DD69-A76D-4E4E-9F06-AEFF2603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241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4FFFC-0A2F-4DE0-804A-CF134D4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00375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45DEB-2E65-40AD-81CC-4A46B0BF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71875"/>
            <a:ext cx="1762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26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Vue globale + vues dédiées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Priorités et activité récente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76E30B-0E4B-4E5A-ADB3-D2B04A28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Le portail devient la couche de lecture commune, sans perturber les outils métier déjà en place.</a:t>
            </a:r>
          </a:p>
        </p:txBody>
      </p:sp>
    </p:spTree>
    <p:extLst>
      <p:ext uri="{BB962C8B-B14F-4D97-AF65-F5344CB8AC3E}">
        <p14:creationId xmlns:p14="http://schemas.microsoft.com/office/powerpoint/2010/main" val="7356338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8CEAB5-65A9-4CCD-BC24-E6E8955E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RÉALISATION PERSONNELLE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CD9F6-A9AE-479E-82B0-F8FCCC9F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90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Ma contribution : concevoir un écosystème de quatre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BE89B-1F45-458A-96FA-C6EC2996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2C0A1-7C5E-47FC-8F45-48B590CE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34928-F750-4FE9-B98C-3CA9D9B5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94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Je ne me suis pas limité à intégrer des logiciels existants : j’ai créé les trois applications métier puis le portail qui les fédère.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5AA91-B087-4675-A33F-98140505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2476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E371A-BCCE-4A61-ADDD-7D2F6857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D4857-1C78-4CFD-AF8D-ABC0825F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Traçabilité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0BB3A-C075-43ED-AE9D-E330CC79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Flux matière, lots, stock et qualité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9F0D6-5A4A-40FD-9FB9-0B407638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14625"/>
            <a:ext cx="2476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765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ADEDA-44D1-44DD-8AAA-F164A9FA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740B5-A2E4-4020-9ADF-CFEA9CE7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81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SAGE RH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0B344-55E9-4C76-9050-82F3830D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Personnel, présence et processus RH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7DCC5-E05B-4E7D-8459-45885458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14625"/>
            <a:ext cx="2476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D9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386A5-F9CF-4028-9917-96F23962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69A3F-4DEC-4D2F-A9CB-D5E10423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Gestion Planning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65679-5ACA-43E6-A31F-19CD7F69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Workflow ECR, actions et délais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8CA84-2624-4710-A57D-6B8C67FC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14625"/>
            <a:ext cx="2476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7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DA7C2-0934-4A25-B8EF-9A290500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35A48-ECB8-4609-9BCA-8223101F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81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SAGE INDEX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11B18-867E-4F08-B58D-CA48FE44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SSO, consolidation et pilotage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B42F7-C66A-4187-80BF-33AA0155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Analyse métier • UX/UI • Modélisation des données • API REST • Sécurité • Tests • Docker • Déploiement</a:t>
            </a:r>
          </a:p>
        </p:txBody>
      </p:sp>
    </p:spTree>
    <p:extLst>
      <p:ext uri="{BB962C8B-B14F-4D97-AF65-F5344CB8AC3E}">
        <p14:creationId xmlns:p14="http://schemas.microsoft.com/office/powerpoint/2010/main" val="814859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E3B4D8-B3D0-4D1D-AEAD-C2E73881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APPLICATION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5F23F-AD12-4E3A-A400-5382E319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SAGE INDEX : le portail et centre de pilotage unifié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E2C65-A404-486E-8894-4F2B9BDA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0FAB5-79B6-4F06-85DD-244E6A48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E4B16-731A-496B-9860-6063C252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Fonctionnalités utilisateur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1D23F-395B-4267-AE7A-8121EC03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738D7-ED68-4EC2-8EDD-6A1BA82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Connexion sécurisée par matricule et mot de passe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CE34D-0B9E-45A9-BAF1-B0D565D5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55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F2E23-FA07-4B42-BFCF-D8CBE413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SSO : ouverture des applications sans nouvelle connexion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1D2D9-5C92-4AE9-8343-FD529F0E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80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421C6-AD70-420B-8729-A0BF36F8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Dashboard personnalisé selon les comptes disponibles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E469C-E443-4FB0-8501-2BF0AA20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041EC-B093-470E-84E7-E046C47F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00475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Vue globale, sélecteur de dashboard et indicateur de focus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41C12-E41A-42B3-86F9-A89744AE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873A7-F0B8-4A87-9DB2-C1553771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Priorités croisées et activité récente des trois domaines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A16D1-8ED4-470B-BFA5-1F5BF726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4985D-7769-430B-8F55-4E3100A6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Changement de mot de passe et déconnexion sécurisée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57FAF-CF0F-4F04-9836-7AF5B0E3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651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6518A"/>
                </a:solidFill>
                <a:latin typeface="Aptos"/>
                <a:ea typeface="Aptos"/>
                <a:cs typeface="Aptos"/>
              </a:rPr>
              <a:t>Fonctionnalités administrateur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86BD5-09E7-49DD-9141-46FBA62F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16D14F-AFF1-4755-8004-F1720256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4312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Importer les comptes depuis les données employés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725DC6-F10A-4018-97DE-CAB47541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955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816F4-3A94-43E2-A022-274F9B7C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9557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Exclure automatiquement les profils DIRECTS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EC2AC-D52E-41D7-987B-121DEB83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480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5D3CD0-827B-4D49-BDF5-339521F1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4802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Consulter les statistiques et la liste paginée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C605D6-CCAF-46ED-B208-BCF3A7C2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004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29ECEE-D1EF-471A-A2EA-EBA46B06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0047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Rechercher un collaborateur par ses informations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234A5A-CF83-4C09-B2D0-FA0D9EB1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529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40E96-54EF-4106-AFDE-D7B9E53C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5292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Activer un compte et définir son mot de passe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0396FD-DB98-47A4-9482-01063D0A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053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466393-9213-4598-B91B-4302781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0537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Surveiller la disponibilité des trois sources métier</a:t>
            </a:r>
          </a:p>
        </p:txBody>
      </p:sp>
    </p:spTree>
    <p:extLst>
      <p:ext uri="{BB962C8B-B14F-4D97-AF65-F5344CB8AC3E}">
        <p14:creationId xmlns:p14="http://schemas.microsoft.com/office/powerpoint/2010/main" val="18199032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236220-4C06-4805-BF5C-4FF0AF80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APPLICATION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F6189-17D9-40CF-B518-9D5984D6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Traçabilité : suivre les lots et sécuriser les flux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5CD5E-6453-4DCD-9B9F-2B1E629C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3596E-5148-44A8-B584-75A86354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7D32D-9662-4487-8030-E024077D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3316E-4F56-4113-A2C7-85143221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25EF7-8C06-45A2-BC5B-7B7873F5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Flux opérationnels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C7513-3102-49F4-B7A1-9E8C2C24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Réception des matières, consommation, mouvement des lots et suivi des quantités restantes.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6E57B-5B44-4A61-98D8-609C0B04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94532-4E16-4DF3-AC1E-54078784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506E5-5877-4A70-9BCE-4C6416D4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859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Qualité &amp; anomalies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42E60-9A37-4F78-B45A-7B57FC11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Contrôles en attente, incidents de consommation, non-conformités et résolution des problèmes.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22628-0815-4A8D-9552-0509A11B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30CF6-7256-41B7-92CA-F12C5223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A3830-5540-416B-AD30-D8A0086B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Analyse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67107-0DAA-44D3-A6F0-A1E6E832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Événements sur 14 jours, types d’opérations, projets, principales références et quantités.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65E1B-9D17-4863-85C6-F6B3C8B6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Indicateurs disponibles dans le portail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5C580-71B7-4246-9DD3-074FE887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84991-A5D6-4DB5-833B-F0192DA2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Lots et actions traités aujourd’hui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617749-19FC-48A3-B849-B3C617A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7BF803-5AC3-4520-BCFD-2450DD00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Réceptions vs consommations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DF992F-E77A-4DD7-BA23-146504A4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87337E-8722-420D-9227-6FD777F6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Anomalies et contrôles ouverts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093DA-DA76-4752-81B2-45285680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756B45-63EF-4255-A2B2-94C1E91C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Stock reçu, consommé et restant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FA98E-398C-41BA-BE43-24022124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16BA9B-E92F-46A6-ADCA-4FE226F9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Activité récente par utilisateur et par 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3F8C6B-6B3F-4881-AF2B-FA35299A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47625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84CB02-1CA0-4929-97BF-FF89A2EB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Personnalisation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C164A5-1BB0-4A05-9B9A-D38672F2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409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24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Les données sont filtrées par matricule : événements réalisés, références manipulées, projets associés et problèmes signalés par le collaborateur.</a:t>
            </a:r>
          </a:p>
        </p:txBody>
      </p:sp>
    </p:spTree>
    <p:extLst>
      <p:ext uri="{BB962C8B-B14F-4D97-AF65-F5344CB8AC3E}">
        <p14:creationId xmlns:p14="http://schemas.microsoft.com/office/powerpoint/2010/main" val="15210836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F217D6-9BD4-46DA-83AB-80274C6A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CONCEPTION • TRAÇABILITÉ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4AF18-45C5-48B7-BCCD-6E65BF10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J’ai construit Traçabilité autour du cycle réel de la matière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2FE24-C5FE-4347-820C-812A812B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45966-9D28-4635-9895-A79CAA7D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A53D1-078A-4C7B-A009-B0BC9E54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Modules développés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3AC24-BEAA-40F5-A8A1-7EAEF013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C178A-0871-462D-AF3A-A987F046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Catalogue composants, familles, projets et versions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BDD46-8ED0-4BE5-BEDF-4779ADB8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2C22C-AD57-4B4B-B6EC-05EA7D7C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Réceptions multi-lignes et génération de lots 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9D23B-FA11-40FE-96B6-DD18B21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FD059-55FC-426E-82A0-E27D7978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Stock, scan STB, consommation et restes de lots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AFBBA-9E3D-49EC-9ED5-C71B9B19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6CBC2-1E36-4F54-8909-1D8C4025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Historique de traçabilité avec filtres et exports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39D78-1A47-4D2C-BF15-53A34AF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18440-3D58-44B3-93BE-11D00547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Étiquettes code-barres / QR et documents 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60626-0DCC-4E63-83BD-0009398D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7FE35-AAE0-4C91-B6F1-21BA4BA6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Alertes temps réel, anomalies et assistant intégré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A28BF-485A-4184-9DE0-B0D62E9B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Architecture réalisée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EA9BF-A5EB-4588-AEAE-5F443C22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25F40-74E4-4C76-B617-113BE258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BA1F1-20D3-4D17-859C-1C3F0D5E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14575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96F5D-7836-4487-BDA3-3DB77C5A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33675"/>
            <a:ext cx="4343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425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React 19 • TypeScript • Vite • React Router • Axios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D5D44-70E3-4FD8-A5BA-6E994542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4762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53674-DFE2-4A33-BB7E-7E92FEA1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F3804-A748-4B99-AA0B-E85F7736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62325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4C49F5-13B2-447D-8ACD-FCBBA719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81425"/>
            <a:ext cx="4343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425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Java 17 • Spring Boot 4 • JPA • JWT • WebSocket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B217B6-127D-4629-B219-3CDF427E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762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0E0969-01CA-454C-891F-59AB7456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8B50DA-EC3E-4732-930D-FD6C13AB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10075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Services &amp; données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ABA236-4A47-46D9-ACBC-BCCD6966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29175"/>
            <a:ext cx="4343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425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PostgreSQL • Cloudinary • Excel • PDFBox • ZXing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0713C8-B838-49D1-BA94-15BDCEAA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36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Accès par rôles : Admin • Logistique • Coupe • Engineering</a:t>
            </a:r>
          </a:p>
        </p:txBody>
      </p:sp>
    </p:spTree>
    <p:extLst>
      <p:ext uri="{BB962C8B-B14F-4D97-AF65-F5344CB8AC3E}">
        <p14:creationId xmlns:p14="http://schemas.microsoft.com/office/powerpoint/2010/main" val="3629973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89B28A-7292-422E-ACC9-7424B636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APPLICATION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3FEB6-DB02-4C8B-B36F-7A2756B5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Ressources humaines : piloter présence, équipes et demandes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FCBF8-ECAB-4D65-A8A0-E94D0EE7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48DB9-7E44-40B6-ADC2-CE158F45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EEDBA-2201-49A2-9F39-C81F8888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64937-A519-41A0-8D52-4A089BCB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3251E-E611-4902-A1F7-E03E8C21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Présence &amp; pointage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2D461-BADC-403E-872A-4F53F4F8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Statut du jour, heures travaillées, présences et absences sur 14 jours.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894DC-212B-4806-9814-67294600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E1172-B1B2-4C6A-BEEF-C4DF1F6F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97A6B-90FE-46FA-B5E3-5102840B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859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Demandes RH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047D9-B618-4F6E-A3C5-29F77B4B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Demandes personnelles, types, statuts, validations et événements à venir.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EBC11-B80B-4EEA-A205-B255D532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3810A-1939-47A3-8ECC-5A51E3B3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31BD2-3BDE-498B-9488-A84508B9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Organisation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347C3-4FBE-4066-A319-7E9D242F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Effectifs par département, shifts, lignes de production et heures supplémentaires.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A0A57-D536-4B0C-AA17-3266DFC4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651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6518A"/>
                </a:solidFill>
                <a:latin typeface="Aptos"/>
                <a:ea typeface="Aptos"/>
                <a:cs typeface="Aptos"/>
              </a:rPr>
              <a:t>Fonctionnalités et indicateurs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00F88-130E-4879-9409-A5D78AA7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6529E-5E4F-4E8A-9F32-A333A719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Taux de présence et historique des pointages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B4A8D6-DDD1-4453-A6FF-019859FF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161352-7C0E-4AA1-B658-E3188818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Demandes en attente et demandes finalisées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17DE4-D792-4991-84E4-8F432165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56E060-198F-4ACA-B05A-DDAC10BB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Motifs d’absence sur les 30 derniers jours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48B5B-9FCA-4965-AA56-F4BC025D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EF2B9E-339C-488B-9870-5DFC4068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Répartition des collaborateurs par département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75D344-C7DD-495E-BA9D-3A102226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17CB9-8CDF-4BB8-8D9F-A010CCC6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Vue manager : absences et situation de l’équipe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E6CFF5-2A2D-4C38-97AA-433527ED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47625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4E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4E7FF6-C1B7-4A2D-B10F-B31C1F3A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Lecture personnalisée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CAE2B7-9CE3-49A4-9703-50C18C70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409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16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Le portail rapproche le matricule et l’e-mail du compte RH pour afficher la situation du collaborateur et, si nécessaire, celle de son équipe.</a:t>
            </a:r>
          </a:p>
        </p:txBody>
      </p:sp>
    </p:spTree>
    <p:extLst>
      <p:ext uri="{BB962C8B-B14F-4D97-AF65-F5344CB8AC3E}">
        <p14:creationId xmlns:p14="http://schemas.microsoft.com/office/powerpoint/2010/main" val="5745860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EABBBD-548F-43DA-8DAA-1282FD72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CONCEPTION • SAGE RH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D80B3-7838-4F93-A5A9-3E337325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J’ai transformé les processus RH en workflows numériques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05835-9F03-4094-A9AB-9BE7748A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0204A-2DFC-4DA7-B521-BBE27E8A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30FE6-42DC-4CA3-AF1D-785FCCC2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651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6518A"/>
                </a:solidFill>
                <a:latin typeface="Aptos"/>
                <a:ea typeface="Aptos"/>
                <a:cs typeface="Aptos"/>
              </a:rPr>
              <a:t>Modules développés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02605-995B-4E99-A2C6-0723C865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77E18-03BC-4A81-9612-66D85CEA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Dossier salarié et référentiels organisationnels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4F812-5A1C-455E-94D1-9A90F40A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4749A-5D9A-4CEF-AE64-33A28245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Pointage, présence, absence et historique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3DDF9-F96A-4CEB-9A3B-4EC21640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F8DE4-95AE-47FE-9071-82EF3680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Permutations et disponibilité des opérateurs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20FF2-2FA1-47B0-85D2-8F472608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2E458-47D9-4210-B2F5-5F603312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Demandes RH et avances sur salaire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0CAFC-88B8-45EB-B3B3-7D697DE1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E92B8-8783-454D-8D6B-350E964C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Conversion EDI DELFOR vers 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FBF63-C61D-44B3-A108-FEF792A3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7A1FB-7DC7-441B-8B49-A00F5675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Notifications, tableaux de bord et exports Excel/PDF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3D36A-8DF3-4C66-8897-C7D563CE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651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6518A"/>
                </a:solidFill>
                <a:latin typeface="Aptos"/>
                <a:ea typeface="Aptos"/>
                <a:cs typeface="Aptos"/>
              </a:rPr>
              <a:t>Architecture réalisée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CC6E8-5E90-4F99-A99E-D24B55C6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CB05C2-0262-40ED-B9C6-FB5248FC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30602-E10E-4394-B74F-EFAF3409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14575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430D4B-81CB-460D-AF98-E0809F18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33675"/>
            <a:ext cx="4343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425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React • TypeScript • Vite • TanStack Query • composants 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598FC-5C3B-45D6-8D76-ED69D40D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4762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6B51C4-8183-4D23-BDB0-744C6AC0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1754B0-4320-447E-8815-79C35953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62325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21159-1F95-432F-A7BA-37C9917B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81425"/>
            <a:ext cx="4343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425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Java 17 • Spring Boot 3.5 • JPA • MapStruct • REST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188C54-F894-44DA-AB68-9C2F18C9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762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CC996A-415F-45B7-BA04-3FDCF58E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0397EC-8429-4F0E-BF85-11CAB61F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10075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Sécurité &amp; données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6920DD-4A63-437A-847D-3765F3C9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29175"/>
            <a:ext cx="4343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425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PostgreSQL • JWT + refresh token • BCrypt • OTP e-mail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12304D-D870-413F-A2E4-477BBC13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149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Rôles : Super Admin • Admin • Superviseur • Manager • Planificateur • Infirmière</a:t>
            </a:r>
          </a:p>
        </p:txBody>
      </p:sp>
    </p:spTree>
    <p:extLst>
      <p:ext uri="{BB962C8B-B14F-4D97-AF65-F5344CB8AC3E}">
        <p14:creationId xmlns:p14="http://schemas.microsoft.com/office/powerpoint/2010/main" val="17819967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25526D-42FA-4847-B59E-C8EC72D9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APPLICATION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30329-069F-4E53-B8AE-AD8E7C01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Gestion des plannings : maîtriser projets, actions et délais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8129F-78E6-410B-943B-072449A2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E6EE1-A35B-4B1B-B24F-580C42D5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E61C9-6468-4CB2-938B-99B74886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D8F6A-7162-40FD-9587-1BF419D3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103E9-FB86-417A-8B66-6E2D768B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Portefeuille ECR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B23BC-58AD-4201-8FD1-44F7C5A6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Demandes de modification, projets actifs, étapes du workflow et progression globale.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3ED04-F61B-42BE-85BF-4AD6C9DA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0609C-7DA5-4BF3-8DD2-3AD3E389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850B6-2458-4DDC-842A-F16404B4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859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Gestion des 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E77F2-3E75-4B2D-B2FB-73A8212D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Actions ouvertes, assignations, statuts, criticité et actions finalisées.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8E77F-124B-47D5-B470-8002CB68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028A7-4A4B-49DF-9EBF-AA776E1D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2F70D-4B1D-47CA-8F1F-62E714BA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Échéances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06DA2-1F7C-481D-9C28-CAB3AE35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300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Dates limites, actions en retard et éléments à surveiller dans les prochains jours.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ACFB1-36D7-4F57-AB0F-FD4F5AAB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8B2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8B28"/>
                </a:solidFill>
                <a:latin typeface="Aptos"/>
                <a:ea typeface="Aptos"/>
                <a:cs typeface="Aptos"/>
              </a:rPr>
              <a:t>Fonctionnalités et indicateurs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231B9-FB80-4B6D-A0C0-D8C7EF13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C32EB-856D-48DE-A56D-809561BB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Nombre de projets actifs et d’actions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34920-F7E1-434A-A2EB-C0F89D00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19F4C-58BB-48CC-89D9-F42C7AB3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Répartition des actions par statut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2DE42-A46F-4450-85DE-C7725097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74F2CE-C6ED-4435-B83B-C1F89E09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Avancement par projet et par étape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9B6BC5-4C99-482F-B1B7-12F00DFF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52E58B-F5ED-46C8-B9B6-37DA65D5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Taux de complétion du portefeuille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AE9861-040E-4AA8-B34F-53034CB4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62DE64-DDEC-4363-BCFA-9E1BA72D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Liste des échéances et retards prioritaires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239B3F-5B60-4B5D-9CE9-081D5981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47625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CF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E43EE2-DEB1-41EB-8526-EE3D5A7D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Continuité du travail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92CCFC-92F5-43A1-B237-64C3C47D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409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Depuis le portail, l’utilisateur ouvre directement l’application Planning avec son identifiant, son rôle et son contexte d’accès.</a:t>
            </a:r>
          </a:p>
        </p:txBody>
      </p:sp>
    </p:spTree>
    <p:extLst>
      <p:ext uri="{BB962C8B-B14F-4D97-AF65-F5344CB8AC3E}">
        <p14:creationId xmlns:p14="http://schemas.microsoft.com/office/powerpoint/2010/main" val="9151196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BE64FE-07B8-4AD2-AE33-1AF1DB81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CONCEPTION • GESTION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1B0FA-540C-45EE-95F3-417CDC2F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J’ai migré le planning Access vers une plateforme web ECR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A2D2F-68CF-4650-B7CE-7579B919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B70DC-4B89-4FF3-95D5-C06D44EA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14E5E-FEC2-4F10-8EEE-B66DA41E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8B2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8B28"/>
                </a:solidFill>
                <a:latin typeface="Aptos"/>
                <a:ea typeface="Aptos"/>
                <a:cs typeface="Aptos"/>
              </a:rPr>
              <a:t>Workflow métier implémenté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7A2BA-9FA9-4C33-A23A-8C8AEA80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B634B-C78C-4060-BD18-67CC65CE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Validation de faisabilité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D87E9-602F-4736-BD1E-51454A84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B4D12-D37D-42CA-BAAA-90FF9DEA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Gestion de projet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554BE-DD2D-4068-BAE5-4CB30E10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1EE6B-C133-4784-A400-D77C4FE2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752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Développement produit et processus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3026E-1AD7-4680-A1FC-038E38A3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4935-53BA-425E-90C0-CD89A0CF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Validation 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5BA9C-695E-4936-B2EF-5DECAB5D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71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A5B38-D922-478C-BC31-E821BD89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Préparation PPAP / SOP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5895D-AD73-408D-934E-7BE552EA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F2841-A24B-4903-823D-25CB3CE0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Lancement puis clôture ou annulation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ABD0F-D547-4757-9634-11F1BDD3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Fonctions transverses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8C09B-8E92-4A0C-9FF9-38C28686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75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Checklists • responsables • preuves • criticité • pénalités • documents • exports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412246-B2DE-4046-80F0-CA7543A8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8B2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8B28"/>
                </a:solidFill>
                <a:latin typeface="Aptos"/>
                <a:ea typeface="Aptos"/>
                <a:cs typeface="Aptos"/>
              </a:rPr>
              <a:t>Architecture réalisée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72AF7-D41B-444B-8FF6-4E16A218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76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6163F-61A4-42F5-87F4-DA1B28D0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918122-B110-484F-A124-03DA650B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B3AFC6-A79D-4B22-8942-BF3CF198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86050"/>
            <a:ext cx="43434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React 19 • Vite • React Router • jsPDF • html2canvas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D34E79-1D55-4292-BB94-4C94B619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476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0C0F37-6703-4B5B-93C6-2C0B366F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64AA17-7877-4203-8C23-88C11DDF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3850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BA0E88-12D5-4EEB-A95E-DB33C92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57600"/>
            <a:ext cx="43434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Spring Boot • JPA • WebSocket • Actuator • API REST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8CA37-3BFD-47BE-A6EC-2835D7F4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76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5898C7-1858-4B33-8B2A-11D3E304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7E281A-EE66-41B3-AE95-9719533B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100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Industrialisation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049A9D-128A-423B-B412-C13EAECB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29150"/>
            <a:ext cx="43434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PostgreSQL • Docker • Jenkins • SonarQube • JaCoCo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111A17-069D-4ED3-B9F8-C8573DC6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476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DF3840-E01F-4E13-A44D-CF6AD5DB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D06146-4D0B-4691-90F5-A58B2567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8160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Observabilité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7C86E9-08CA-4738-9980-024F2AC5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600700"/>
            <a:ext cx="43434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Prometheus • Grafana • health checks • alertes e-mail</a:t>
            </a:r>
          </a:p>
        </p:txBody>
      </p:sp>
    </p:spTree>
    <p:extLst>
      <p:ext uri="{BB962C8B-B14F-4D97-AF65-F5344CB8AC3E}">
        <p14:creationId xmlns:p14="http://schemas.microsoft.com/office/powerpoint/2010/main" val="2140809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66496D-8D9E-4161-B543-D12A47B4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SAGE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76F35-11CA-49B7-9E5B-6DA74389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Les besoins couvrent l’usage métier et la qualité de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D0F8D-18A0-427F-83E4-522547AD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11E3E-0130-4DCA-B547-68FF219D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11724-2571-4B5A-A0EB-7BB8F1A8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Fonctionnels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B96B2-41BE-437D-A16E-00446496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642E6-9953-4467-9E70-0E6D529A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Authentifier et personnaliser le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CD768-FCBB-422B-B68A-ECF32DC0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D169A-6670-4FCF-8473-D9CF29DE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Afficher les applications accessibles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346EC-BE45-4DAD-B76B-C9C46FAC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9E540-630E-41BA-AE72-A0637824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Consolider KPI, graphiques et alertes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A0D87-B06F-4B8B-AB42-FA6EB923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64552-6543-4257-B342-A6AA46FD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Administrer les comptes importés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EA9DA-1AB0-4E02-A5E0-40E9A841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148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A9727-1DFA-47AB-9B41-3B6CE8F7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Accéder aux vues Traçabilité, RH et Planning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9D517-BEBA-42C4-B83F-6387EE70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651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6518A"/>
                </a:solidFill>
                <a:latin typeface="Aptos"/>
                <a:ea typeface="Aptos"/>
                <a:cs typeface="Aptos"/>
              </a:rPr>
              <a:t>Non fonctionnels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56FD1A-BD9F-49FA-AC25-E34416F2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CF1165-6F3A-4E27-A240-486D4EDC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383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Sécurité : JWT, BCrypt et contrôle d’accès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03C21-09D6-4196-8B4B-FCC685A6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45932-8755-4581-A615-FB0F052A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Performance et disponibilité des tableaux de bord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F16F7-DD9C-41D5-877E-C383014C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DB584-BEC2-4B79-A414-0D3E68C0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7662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Résilience si une source métier est indisponible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5ABF4-02FC-46E4-A1D4-AADBBA9C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1C5A54-1BAB-42BE-BA2D-FC0192CF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Déploiement reproductible avec Docker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1F13E3-E43F-4878-B54A-57405DFF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148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05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7BB5AA-CA24-4A7D-9FD7-4B56D8A1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148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Maintenabilité, lisibilité et évolutivité</a:t>
            </a:r>
          </a:p>
        </p:txBody>
      </p:sp>
    </p:spTree>
    <p:extLst>
      <p:ext uri="{BB962C8B-B14F-4D97-AF65-F5344CB8AC3E}">
        <p14:creationId xmlns:p14="http://schemas.microsoft.com/office/powerpoint/2010/main" val="21409477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4CF74E-2B07-4946-8F9E-5C393742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SAGE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6F38D-37F8-4787-BFB9-54C25A64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La valeur ajoutée se mesure à trois niveaux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25DA3-D8F0-4322-B0E6-DDED3415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30E09-5268-4A6F-AF31-0FF87DEB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091BA-CA68-4B72-9D23-6D8B6F37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1 728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1B188-90B4-496F-8CCE-03882EC3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employés analysés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09396-FCF1-481D-BDC4-C2B04132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76518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76518A"/>
                </a:solidFill>
                <a:latin typeface="Aptos"/>
                <a:ea typeface="Aptos"/>
                <a:cs typeface="Aptos"/>
              </a:rPr>
              <a:t>432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6FD5A-FB12-4A72-B5B7-7F49D594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comptes CADRE &amp; INDIRECTS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1DCFD-E562-4B79-9D74-C94B6D25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D98B28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D98B28"/>
                </a:solidFill>
                <a:latin typeface="Aptos"/>
                <a:ea typeface="Aptos"/>
                <a:cs typeface="Aptos"/>
              </a:rPr>
              <a:t>3 /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C7D36-A6ED-4392-A7CC-408921CC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956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systèmes réunis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A8C31-E9FF-4B3D-A2BC-33328F3A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3238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AFF7B-F559-4263-921A-E34FDC0B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A2EE4-2C6F-494F-9FBB-670D7937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Pour l’utilisateur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4E328-AD27-419A-B371-6EEDF0BA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8675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Moins de navigation, accès personnalisé et priorités visibles.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8D4B1-EA5A-47D5-A2D2-E9FB4951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48125"/>
            <a:ext cx="3238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17003-6372-447C-AF61-24288732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48125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24679-E56E-4282-85D3-4C7C272A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19575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Pour le management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287AC-A9F6-42F4-88B1-C639A246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38675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Lecture transversale et arbitrage plus rapide.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9F213-60DF-45E7-AEF9-B6730BD4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3238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6DE8D-0C74-4F10-9A09-B191E582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95796D-3299-475A-98E2-9F0464CF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19575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Pour l’IT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892445-E69B-4F9B-8937-97881706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38675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Architecture conteneurisée, sécurisée et extensible.</a:t>
            </a:r>
          </a:p>
        </p:txBody>
      </p:sp>
    </p:spTree>
    <p:extLst>
      <p:ext uri="{BB962C8B-B14F-4D97-AF65-F5344CB8AC3E}">
        <p14:creationId xmlns:p14="http://schemas.microsoft.com/office/powerpoint/2010/main" val="3099351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58D02-5014-4109-B798-C3138B79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SAGE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73FD2-136E-4FC2-ACA9-55B459EB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Une démarche incrémentale guidée par les usages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177D2-3497-413A-8BC2-EC13C7DE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F1BEB-E4A8-467E-BBC8-86080B55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CF735-B6D3-4958-A89C-FAA5BE8B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247650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3F005-B536-47FB-9CA7-834B42D6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717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54DEE-75C3-4230-BC43-69F268A9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95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Analyser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95897-90E1-40F1-A7A1-306C2978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67125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Cartographier les applications, données et profils.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92BFE-4FDB-4ED5-A533-DA1E37AF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38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6CE3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A6CE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F655E-8D75-4F17-93DD-575F7130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81250"/>
            <a:ext cx="247650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AEB9C-A5B1-402D-96F5-49D5EF5C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717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643A7-7D77-47C7-A038-27C5EB5B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95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Concevoir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9AF7A-14B2-477D-81D1-38190BFC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667125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Définir parcours, sécurité, architecture et maquettes.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0EF58-97BC-4FB4-BCD6-9FB4D9BD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38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6CE3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A6CE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65EF3-CE3A-44AF-8B4F-822CFE17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247650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C75CAD-F696-4C27-84F4-DD46AFAA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717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6A7F0-50D2-41D0-9E74-3B3AF416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95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Construire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8E52F-E38E-41EA-ABC1-AA17098F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67125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Développer frontend, backend et agrégations métier.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1DA5A-6B41-4CC3-887D-BD8F1501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238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6CE3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A6CE3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E1CE4-D96D-4BAA-82F3-C3FFE6B3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81250"/>
            <a:ext cx="247650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31100-5B71-40B4-8428-C28C6C54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717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636B62-190D-4E5D-BF8B-C3192113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95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D520F6-B32F-4506-AC95-2BB21EFA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667125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Tester, construire, corriger et préparer le déploiement.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7C75F2-091A-41BC-9E22-DFDDC527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Boucle continue : retour utilisateur → ajustement des indicateurs → validation technique.</a:t>
            </a:r>
          </a:p>
        </p:txBody>
      </p:sp>
    </p:spTree>
    <p:extLst>
      <p:ext uri="{BB962C8B-B14F-4D97-AF65-F5344CB8AC3E}">
        <p14:creationId xmlns:p14="http://schemas.microsoft.com/office/powerpoint/2010/main" val="7404990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7FB1F4-6421-4D54-AB22-6C1F2282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SAGE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51FA2-4453-4F4D-AAF0-071F24BC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Une architecture moderne, sécurisée et déployable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F506B-B246-435D-959A-4462FB8D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9542F-FFDA-42F1-B01A-A52FAFFB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35BB9-0487-4E63-BF2F-57A320D9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334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82C84-391E-402B-BDDC-23A685D6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055BA-3DF7-427F-B45D-0E837147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4C4CE-1BDB-4F7C-8484-5A8296D6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4914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React 19 • TypeScript • Vite • Nginx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D6F18-D8F6-4C2D-A050-3F31ECF0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334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91B18-ADB3-4F11-8BBB-0A77B5F9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2179B-6D4D-43C3-A9CA-810FBA12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5B499-7C3D-4135-A97F-C8B1D4BA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914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Java 21 • Spring Boot 4.1 • Spring Security • JPA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F80DA-5B02-4A34-8E72-58AB6794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5334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B4953-EE38-4C62-885E-648A28BD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F8FE5-65E1-4FB1-B45E-BCD92E34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1825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Données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045F0-4C00-4D5F-8DB9-BCC7428C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4914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PostgreSQL 17 • connexions aux bases métier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167EE-0377-4E0C-A7A5-0D37BC3D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0375"/>
            <a:ext cx="5334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E3268-19AD-4686-9819-B70CEA7A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037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50501-57F2-47D8-ADE5-62F84D0B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71825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Sécurité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1B620-E163-4693-9C0D-3934AE4A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4914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JWT • BCrypt • rôles • variables d’environnement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F1AAC-BFC5-4582-A206-2DE5287E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5334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AC4D78-468F-4AE1-8EF1-C4CFE3E4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EEB895-D246-47AB-BE00-8AA0F89E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Déploiement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82F734-E031-4E78-B9C6-96E13ADF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4914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Docker Compose • health checks • réseaux privés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9ABA6F-E3EC-47F0-BD16-3CAC0115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5334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CA872D-F574-4581-B1E4-89F1281A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B1C929-3FF3-4F27-B9DF-17F954A2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577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Qualité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04D49D-4484-4DD8-A618-7D60A75C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76800"/>
            <a:ext cx="4914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Tests Spring • build TypeScript/Vite • contrôle des rendus</a:t>
            </a:r>
          </a:p>
        </p:txBody>
      </p:sp>
    </p:spTree>
    <p:extLst>
      <p:ext uri="{BB962C8B-B14F-4D97-AF65-F5344CB8AC3E}">
        <p14:creationId xmlns:p14="http://schemas.microsoft.com/office/powerpoint/2010/main" val="19375335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719362-1FB6-4FB5-A606-AD16DD78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SAGE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C6A5C-35D7-425F-8AC9-6B655314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12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Les données restent dans leurs domaines, le portail orchestre la lecture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57DAA-1C7E-4E7E-A2AA-6BD29427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FFD0A-11F3-4826-A6E4-746FEAD5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835DF-E611-440A-BD58-3F9817AE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895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721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B9C1F-996B-46C3-AD76-B12B1C2D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809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Utilisateur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03AEE-96BA-44AF-8C76-FEAF82B8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Navigateur / interface SAGE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B09C0-EB47-40AE-AD36-37CFDA0D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907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6B7BE-CD62-42E9-9EA0-1E62443F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895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07A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4D8AE-8B4B-4836-BC4B-0F943EB8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098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Présentation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A9F63-F87E-450A-A90E-05F2B3B2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 + Vite servi par Nginx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2A0E0-A3D7-4B64-B63E-902C9F7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3909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F0979-CF41-4142-90AA-41645E8E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67125"/>
            <a:ext cx="895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765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1E560-C736-4907-AF80-40067763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100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F7C6E-3FD4-4B5E-A125-6008F40E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1000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Spring Boot • Authentification • Dashboard • Comptes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6D429-8A90-402F-8628-7733D15C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3910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544FC-F63C-4403-A4B2-3211D103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895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9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7DF2B-3223-4F0A-9E58-CA7169EB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8101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Données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E9C8D-467A-41F3-BC86-D2AF8425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10125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PostgreSQL portail + bases Traçabilité, RH et Planning</a:t>
            </a:r>
          </a:p>
        </p:txBody>
      </p:sp>
    </p:spTree>
    <p:extLst>
      <p:ext uri="{BB962C8B-B14F-4D97-AF65-F5344CB8AC3E}">
        <p14:creationId xmlns:p14="http://schemas.microsoft.com/office/powerpoint/2010/main" val="19936937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AEC0A0-0E36-4A21-88A7-1CDB1CD1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SAGE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312AC-7CA4-413C-9A42-3A6C7FBD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Démonstration : du login à la décision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03F8D-00B1-4F24-BF45-E667E110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13AEB-D375-494E-BA36-05A3ED4A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E028C-6288-4B90-B535-46D8014F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00:00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98F48-2378-4545-B872-9AFB723A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11808-4DD0-4487-B732-CDD84700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7430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Connexion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DDE92-F3B1-4441-B4F6-706E7F60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43075"/>
            <a:ext cx="690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S’authentifier avec le matricule.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CEDEC-DB42-4039-984C-A01071EF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05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00:20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AD441-1D14-4F90-B1FC-EFC32CE0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05075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2F97F-D077-4ADA-85B6-BA91622F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812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Vue globale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D079F-C6E3-4A7C-9532-3A164FE8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81275"/>
            <a:ext cx="690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Lire les trois domaines et les points d’attention.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40C99-7006-448C-9536-FE929E1D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432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00:55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1F9EA-1F85-4BE8-9171-0928857E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43275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EBA93-770B-44A1-8A9B-3755FF3F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194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Vues métier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DB4B9-B4FC-47C9-AFD1-DD034B9C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19475"/>
            <a:ext cx="690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Explorer Traçabilité, RH puis Planning.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F9B4E-18CD-4B7B-9A05-5515C746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81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01:35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8A1AD-AEFB-4CA0-A574-1039C76E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81475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F1151-C4AB-4742-BFE1-D1162715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576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Administration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A5CD9-F100-4CBD-9E4B-474518D4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57675"/>
            <a:ext cx="690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Rechercher, activer ou désactiver un compte.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C7490-80DC-4987-8D89-955727F6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A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A4D"/>
                </a:solidFill>
                <a:latin typeface="Aptos"/>
                <a:ea typeface="Aptos"/>
                <a:cs typeface="Aptos"/>
              </a:rPr>
              <a:t>02:00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3E43C-A842-4A2C-9154-B01B1589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19675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C5DF3-B10C-4786-ACDA-3FEBF1A0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095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FC9DB-31CC-46B2-892B-5D559D99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95875"/>
            <a:ext cx="690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Montrer le gain : une seule entrée, une vision consolidée.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7EBC6-AD35-4B4C-90E7-0D80F679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4837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Support vidéo à intégrer : capture écran du portail sur http://localhost:18080</a:t>
            </a:r>
          </a:p>
        </p:txBody>
      </p:sp>
    </p:spTree>
    <p:extLst>
      <p:ext uri="{BB962C8B-B14F-4D97-AF65-F5344CB8AC3E}">
        <p14:creationId xmlns:p14="http://schemas.microsoft.com/office/powerpoint/2010/main" val="18108374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72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2e4e5214248b0"/>
          <a:stretch xmlns:a="http://schemas.openxmlformats.org/drawingml/2006/main"/>
        </p:blipFill>
        <p:spPr>
          <a:xfrm xmlns:a="http://schemas.openxmlformats.org/drawingml/2006/main">
            <a:off x="8972550" y="533400"/>
            <a:ext cx="2152650" cy="857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43E40-4DDE-4EB8-B48D-F0ED6257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CE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6CE39"/>
                </a:solidFill>
                <a:latin typeface="Aptos"/>
                <a:ea typeface="Aptos"/>
                <a:cs typeface="Aptos"/>
              </a:rPr>
              <a:t>SYNTHÈSE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53B65-88C8-44E7-8800-B6CEF726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828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 portail.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Trois métiers.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Une décision plus rapide.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31A55-CA36-4A0F-9EBB-66FF9C72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D4C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C9D4CF"/>
                </a:solidFill>
                <a:latin typeface="Aptos"/>
                <a:ea typeface="Aptos"/>
                <a:cs typeface="Aptos"/>
              </a:rPr>
              <a:t>SAGE INDEX sécurise l’accès, consolide les données et rend l’information opérationnelle immédiatement exploitable.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FCA8B-9E47-4C94-8E37-FFA8A9C9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CE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6CE39"/>
                </a:solidFill>
                <a:latin typeface="Aptos"/>
                <a:ea typeface="Aptos"/>
                <a:cs typeface="Aptos"/>
              </a:rPr>
              <a:t>Questions &amp; échanges</a:t>
            </a:r>
          </a:p>
        </p:txBody>
      </p:sp>
    </p:spTree>
    <p:extLst>
      <p:ext uri="{BB962C8B-B14F-4D97-AF65-F5344CB8AC3E}">
        <p14:creationId xmlns:p14="http://schemas.microsoft.com/office/powerpoint/2010/main" val="2109497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2026-07-29T11:51:19.6490000Z</dcterms:created>
  <dcterms:modified xsi:type="dcterms:W3CDTF">2026-07-29T11:51:19.6490000Z</dcterms:modified>
</coreProperties>
</file>